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64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AgenticSAP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· AGENTIC TRANSFORMATION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meter-to-cash to agentic.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production agents.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companies are running SAP IS-U, FI-CA, and BPEM on platforms that were never designed for autonomous decision-making. AgenticSAP packages everything a utility CoE needs to deploy goal-driven AI agents across the meter-to-cash process — in weeks, not years.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Pre-built, production-tested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 archetypes covering MX, BPEM, FI-CA, CIC, IS-U, and EDI reconciliation.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4930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technical layers per agent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manifest · Action handlers · Prompt templates · CDS views · AI Core pipeline · Eval harness.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0599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from day one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ships with a business case, ROI model, and evaluation golden set.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agenticsap-platform-production.up.railway.app  ·  Skill Studio  ·  Technical Code Assets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29400" y="365760"/>
            <a:ext cx="5303520" cy="6217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5486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 · PRODUCTION READY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30568" y="96012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006FE6"/>
          </a:solidFill>
          <a:ln w="12700">
            <a:solidFill>
              <a:srgbClr val="006F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106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MX-Resolver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IS-U EDM · Meter exception auto-resolution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30568" y="169164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BPEM-Triage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BPEM · Case classification &amp; routing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30568" y="242316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569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Collections-Strategist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FI-CA · Propensity-scored collections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30568" y="315468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300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CSR Co-Agent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CIC0 · Real-time next-best-action sidebar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0568" y="388620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032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MoveOps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IS-U · Move-in/out orchestration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30568" y="461772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764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EDI-Recon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IS-U · Market communications reconciliation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AGENTIC ENABLEMENT · SIX CODE LAYERS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GitHub repository. Six layers. Every agent.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archetype ships with a complete, versioned code bundle ready to deploy on SAP AI Core + BTP.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43000"/>
            <a:ext cx="3749040" cy="91440"/>
          </a:xfrm>
          <a:prstGeom prst="rect">
            <a:avLst/>
          </a:prstGeom>
          <a:solidFill>
            <a:srgbClr val="006FE6"/>
          </a:solidFill>
          <a:ln w="12700">
            <a:solidFill>
              <a:srgbClr val="006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325880"/>
            <a:ext cx="329184" cy="329184"/>
          </a:xfrm>
          <a:prstGeom prst="ellipse">
            <a:avLst/>
          </a:prstGeom>
          <a:solidFill>
            <a:srgbClr val="006FE6"/>
          </a:solidFill>
          <a:ln w="12700">
            <a:solidFill>
              <a:srgbClr val="006F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34416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Manifest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 · AI 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194767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agent identity, SAP tool bindings (OData + BAPI), guardrails, trigger config, and observability settings for SAP AI Core deployment.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3200400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218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skill.yaml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0" y="1143000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143000"/>
            <a:ext cx="374904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325880"/>
            <a:ext cx="329184" cy="32918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34416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Handlers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51960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· BTP Kyma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194767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inputs, call SAP BAPIs with pre/post audit logs, check return codes, and roll back on failure — the agent's only write path into SAP.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51960" y="3200400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E0FAF8"/>
          </a:solidFill>
          <a:ln w="12700">
            <a:solidFill>
              <a:srgbClr val="E0F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218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handlers/*.js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28432" y="1143000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1143000"/>
            <a:ext cx="3749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5592" y="132588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134416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77072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65592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Jinja2 · GenAI Hub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65592" y="1947672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that inject live CDS context, define decision spaces (AUTO/ESCALATE/CLOSE), enforce JSON response schema, and include few-shot examples.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65592" y="3200400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3218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prompts/system.j2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" y="3730752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3730752"/>
            <a:ext cx="37490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" y="391363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931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Views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" y="4297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CDS · S/4HANA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8328" y="4535424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data products joining SAP transactional tables — IS-U, FI-CA, BPEM, CRM — with window functions to produce the agent's real-time read context.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8328" y="578815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5806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cds/*.cds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0" y="3730752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0" y="3730752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91363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3931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Pipeline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51960" y="4297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· pipeline.yaml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51960" y="4535424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pipeline (Collections-Strategist): ingest → feature engineering → XGBoost GPU training → AUC evaluation gate → model registry.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51960" y="578815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5806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pipeline/pipeline.yaml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28432" y="3730752"/>
            <a:ext cx="3749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28432" y="3730752"/>
            <a:ext cx="374904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3913632"/>
            <a:ext cx="329184" cy="32918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3931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77072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65592" y="4297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· Golden Set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65592" y="4535424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CI-gated test suite covering accuracy, latency (p95), regulatory constraints, and edge cases. Blocks promotion if any gate fails — auditability built in.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165592" y="5788152"/>
            <a:ext cx="347472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65592" y="5806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evals/test_*.py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3733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prasad-ibm/agenticsap-agents  ·  agents/{agent-name}/{layer}/  ·  Pull request → CI eval gates → SAP AI Core deploy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agents. Quantified value. Deployable in weeks.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118231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2606040"/>
                <a:gridCol w="2606040"/>
                <a:gridCol w="4233672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CAPABILITY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OUTCOME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MX-Resolver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IS-U EDM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80,000+ meter reading exceptions processed manually each month — 3-day SLA breach, high error rate.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root cause, auto-corrects within 2.5% tolerance, closes BPEM workcase with full audit trail.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backlog reduction in 60 days · $2.4M/yr avoided cost · zero audit 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BPEM-Triage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BPEM case age averaging 6+ days · billing controllers triaging 500 cases/week manually.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all 5 root-cause categories ≥85% accuracy, routes or auto-resolves.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 reduction in case age · $1.8M/yr avoided cost · SLA &lt; 48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Collections-Strategist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FI-CA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One-size dunning strategy across all overdue accounts — high write-off rate, regulatory exposure.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model scores each account; selects from 5 strategy tiers with regulatory guardrails.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reduction in write-offs · $3.1M/yr recovered · full GDPR audit trail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 Co-Agent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CIC0/CRM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 average handle time 8.4 min · inconsistent NBA guidance across 200-agent contact centre.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CIC0 sidebar streams top-3 next-best actions and account context during every call.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min AHT saved · $1.2M/yr productivity gain · NPS +11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IS-U/CRM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Move-in/out requires 14 manual steps across 3 systems — 4.2 min per transaction, high re-work.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orchestration: CRM notification → address validation → IS-U contract → device assignment.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min/move × 80K moves/yr · $1.1M/yr · re-work rate −60%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EDI-Recon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IS-U/EDI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settlement disputes $800K/yr in penalties — IDocs reconciled manually 2 days after receipt.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inbound IDocs vs enrollment state; auto-disputes within tolerance; escalates outliers.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dispute reduction · $800K/yr avoided penalties · same-day reconciliation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5925312"/>
            <a:ext cx="12188952" cy="9326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961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value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20440" y="5961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20440" y="6309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SAP AI Core + BTP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0" y="5961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6309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 production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418320" y="5961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418320" y="6309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audit-ready, eval harnesses included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AgenticSAP Utilities Accelerator</dc:title>
  <dc:subject>PptxGenJS Presentation</dc:subject>
  <dc:creator>AgenticSAP</dc:creator>
  <cp:lastModifiedBy>AgenticSAP</cp:lastModifiedBy>
  <cp:revision>1</cp:revision>
  <dcterms:created xsi:type="dcterms:W3CDTF">2026-06-02T13:32:59Z</dcterms:created>
  <dcterms:modified xsi:type="dcterms:W3CDTF">2026-06-02T13:32:59Z</dcterms:modified>
</cp:coreProperties>
</file>